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de validación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D4-4A92-9F27-377B45CBD34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DD4-4A92-9F27-377B45CBD34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DD4-4A92-9F27-377B45CBD34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DD4-4A92-9F27-377B45CBD342}"/>
              </c:ext>
            </c:extLst>
          </c:dPt>
          <c:dPt>
            <c:idx val="4"/>
            <c:invertIfNegative val="0"/>
            <c:bubble3D val="0"/>
            <c:spPr>
              <a:solidFill>
                <a:srgbClr val="DD84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D4-4A92-9F27-377B45CBD3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3445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Lineal (grado 1)</c:v>
                </c:pt>
                <c:pt idx="1">
                  <c:v>OLS grado 3</c:v>
                </c:pt>
                <c:pt idx="2">
                  <c:v>OLS grado 2</c:v>
                </c:pt>
                <c:pt idx="3">
                  <c:v>Lasso g3, lambda=100</c:v>
                </c:pt>
                <c:pt idx="4">
                  <c:v>Lasso g2, lambda=100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6123.65</c:v>
                </c:pt>
                <c:pt idx="1">
                  <c:v>5169.4799999999996</c:v>
                </c:pt>
                <c:pt idx="2">
                  <c:v>4931.59</c:v>
                </c:pt>
                <c:pt idx="3">
                  <c:v>4918.71</c:v>
                </c:pt>
                <c:pt idx="4">
                  <c:v>4905.32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DD4-4A92-9F27-377B45CBD3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4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</c:scaling>
        <c:delete val="0"/>
        <c:axPos val="b"/>
        <c:majorGridlines>
          <c:spPr>
            <a:ln w="635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8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14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Presento el Trabajo Práctico 1 sobre regresión y evaluación de modelos. Trabajé con el dataset Insurance Charges y el resultado final es un RMSE de 4.630 sobre el conjunto de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Insurance Charges entre las tres opciones. Bike Sharing es una serie temporal y habría exigido una separación cronológica; aquí se trata de asegurados independientes, sin estructura temporal, así que una muestra aleatoria es representativa del conjunto. El objetivo, charges, es el gasto médico anual de cada persona: una variable continua, por lo tanto es un problema de regresión.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distribución de charges parece sesgada a la derecha, con una asimetría de 1,52. Pero al separar por la variable smoker se descompone en dos distribuciones limpias: los no fumadores se concentran alrededor de 8.441 y los fumadores alrededor de 32.050, una diferencia de 3,8 veces. Los fumadores son solo el 20,5 por ciento de los datos. Esto tiene una consecuencia directa: la cola derecha no es ruido, es una subpoblación real, y por eso decidimos conservar los valores atípicos.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lo interesante. La pendiente del gasto sobre el BMI es de 83 unidades por punto de BMI en no fumadores, y de 1.473 en fumadores: dieciocho veces más pronunciada. Un modelo lineal aditivo dispone de una única pendiente para el BMI y un único desplazamiento para el tabaquismo, así que no puede representar esto de ninguna manera. Ese es exactamente el motivo por el que más adelante necesitamos características polinómicas: el grado 2 genera el término de interacción bmi por smoker.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teórico que pide el enunciado. El conjunto de train ajusta los parámetros. Los folds de validación eligen entre modelos: qué grado de polinomio y qué lambda. Y el test estima el error real sobre datos nuevos. La clave es la segunda parte: como las decisiones se toman mirando el error de validación, ese error deja de ser insesgado. Comparamos 16 configuraciones y nos quedamos con la mejor, y el mínimo de 16 estimaciones ruidosas está sesgado hacia abajo. El test nunca participó en esas decisiones, por eso es la única estimación honesta.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decisiones. Las categóricas: binarias como columna 0/1, region con one-hot eliminando un nivel para no romper el intercepto. No hay valores faltantes, pero sí un duplicado exacto que eliminamos. Los atípicos son el punto interesante: 139 valores por encima de la valla del IQR, y el 97,8 por ciento son fumadores, frente al 20,5 por ciento del total. No son errores, son una subpoblación real, así que los conservamos. Y el escalado se ajusta dentro de cada fold, nunca antes de la partición: hacerlo antes sería fuga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Separamos 80/20 con semilla fija, y aplicamos validación cruzada de 5 folds solo sobre el train. El RMSE medio de validación es 6.123, frente a 11.701 del baseline de predecir siempre la media. Lo importante es la diferencia entre train y validación: 47,73, menos del uno por ciento del error. No hay sobreajuste. Ocho parámetros sobre mil filas no tienen capacidad para memorizar. Por lo tanto el problema es sesgo alto, no varianza: el modelo es demasiado simple. Y eso es exactamente lo que motiva el apartado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Evaluamos grados 1, 2 y 3 sobre exactamente los mismos folds, así que cualquier diferencia viene del modelo y no de una partición distinta. Del grado 1 al 2 el error baja un veinte por ciento, de 6.124 a 4.932, gracias a los términos de interacción. Del 2 al 3 ocurre lo contrario: el error de train sigue bajando pero el de validación sube, y la diferencia entre ambos pasa de 183 a 655. Eso es sobreajuste: 164 características sobre unas 855 filas empiezan a memorizar ruido en lugar de aprender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Probamos cuatro valores de lambda sobre los grados 2 y 3. Lo primero: L1 rescata parcialmente el grado 3. Con lambda igual a 100 baja de 5.169 a 4.919, casi al nivel del grado 2. Para eso sirve la regularización. Lo segundo: con lambda igual a 1000 todas las configuraciones convergen hacia 5.300. La penalización es tan fuerte que domina a los datos. Fíjense que la diferencia entre train y validación cae a 25: poca varianza, pero comprada con mucho sesgo. Y tercero: en la configuración elegida, L1 pone 24 de 44 coeficientes a cero exacto. Eso es selección de características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resumen del apartado 4. Evaluamos 16 configuraciones en total; aquí están las cinco más relevantes. Se ve el patrón completo: el grado 2 mejora claramente sobre el lineal, el grado 3 sin regularizar empeora, y la regularización vuelve a acercarlo. El mejor es Lasso de grado 2 con lambda 100, con 4.905. Todos comparten la misma partición y los mismos folds, así que las diferencias vienen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Reentrenamos el modelo elegido sobre las 1.069 filas de train y lo evaluamos una sola vez sobre las 268 filas de test. RMSE 4.630, R cuadrado 0,883. El test dio 275 menos que la validación, lo cual sorprende. No significa que el modelo sea mejor de lo esperado: el modelo final se reentrenó con más datos, y 268 filas son pocas. El intervalo bootstrap va de 3.820 a 5.403 y contiene el valor de validación, así que las dos cifras no se contradicen. Y algo importante: el error no se reparte por igual. Es de 3.978 en no fumadores y 6.396 en fumadores, un sesenta por ciento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preguntas del enunciado. Primera: el menor error lo obtuvo Lasso de grado 2 con lambda 100. Pero lo relevante no es el ranking, sino el patrón: las interacciones ayudan, el grado 3 sobreajusta. Segunda: implementaría ese mismo modelo, pero quiero ser honesto: su ventaja sobre OLS de grado 2 es de 26 puntos de RMSE, con una desviación entre folds de unos 200. No es una diferencia significativa. Lo elijo por estabilidad, por simplicidad y porque la elección de lambda es robusta. Tercera: prometería unos 4.600, como rango de 3.800 a 5.400. No prometo el 4.905 de validación porque esa cifra se usó para elegir entre 16 configuraciones y por tanto está sesgada a la baja. Y con dos condiciones: que los datos nuevos se parezcan a estos, y que el error es mayor en fumadores que en no fumadores.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813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Práctico 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331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FC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e introducción a la evaluación de modelos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94360" y="33649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ITBA  ·  2026 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36941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Insurance Charges  —  predicción del gasto médico anual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42793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Albertine, Marek, Domingo Gruhle        26 de agosto de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49640" y="1965960"/>
            <a:ext cx="3063240" cy="2194560"/>
          </a:xfrm>
          <a:prstGeom prst="roundRect">
            <a:avLst>
              <a:gd name="adj" fmla="val 2500"/>
            </a:avLst>
          </a:prstGeom>
          <a:solidFill>
            <a:srgbClr val="2E3D5C"/>
          </a:solidFill>
          <a:ln w="12700">
            <a:solidFill>
              <a:srgbClr val="2E3D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851392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51392" y="248716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851392" y="334670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sobre el conjunto de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(268 filas nunca utilizadas)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dataset: Insurance Charges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0 — elección del conjunto de datos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806440" cy="4480560"/>
          </a:xfrm>
          <a:prstGeom prst="roundRect">
            <a:avLst>
              <a:gd name="adj" fmla="val 122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86968" y="17373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elegimos este 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2157984"/>
            <a:ext cx="5212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decisiones reales en cada apartado: tres variables categóricas obligan a justificar una codificación.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un grupo grande de valores atípicos con explicación estructural, no errores de medición.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una interacción fuerte entre variables, así que los modelos polinómicos pueden mejorar de forma medible.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independientes y sin orden temporal: una separación train/test aleatoria es válida.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86968" y="52303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es una serie temporal y habría exigido una separación cronológica.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20840" y="1481328"/>
            <a:ext cx="4873752" cy="4480560"/>
          </a:xfrm>
          <a:prstGeom prst="roundRect">
            <a:avLst>
              <a:gd name="adj" fmla="val 122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013448" y="17373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los datos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2212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33688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64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13448" y="2615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33688" y="2615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13448" y="3017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33688" y="3017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15,96 – 53,13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13448" y="34198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34198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13448" y="3822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33688" y="3822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4224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33688" y="4224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13448" y="46268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33688" y="46268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1.122 – 63.770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13448" y="5102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= gasto médico anual por persona (variable objetivo)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13448" y="5541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1.338 filas  ·  6 predictores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variable objetivo son dos poblaciones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 — análisis exploratorio</a:t>
            </a:r>
            <a:endParaRPr lang="en-US" sz="1400" dirty="0"/>
          </a:p>
        </p:txBody>
      </p:sp>
      <p:pic>
        <p:nvPicPr>
          <p:cNvPr id="4" name="Image 0" descr="/home/claude/data/figures_es/plot_2_sub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36192"/>
            <a:ext cx="6675120" cy="43982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36192"/>
            <a:ext cx="4050792" cy="1389888"/>
          </a:xfrm>
          <a:prstGeom prst="roundRect">
            <a:avLst>
              <a:gd name="adj" fmla="val 3947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818120" y="17007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3,8×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18120" y="224942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gasto medio en fumadores: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8.441  frente a  32.050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43800" y="3054096"/>
            <a:ext cx="4050792" cy="1389888"/>
          </a:xfrm>
          <a:prstGeom prst="roundRect">
            <a:avLst>
              <a:gd name="adj" fmla="val 3947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818120" y="3218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20,5 %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818120" y="376732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filas son fumadores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(274 de 1.337)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4572000"/>
            <a:ext cx="4050792" cy="1362456"/>
          </a:xfrm>
          <a:prstGeom prst="roundRect">
            <a:avLst>
              <a:gd name="adj" fmla="val 402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818120" y="4754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0" y="50474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derecha no es ruido: es una subpoblación real. Por eso conservamos los valores atípicos.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un modelo lineal no basta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entre bmi y smoker — justifica el apartado 3</a:t>
            </a:r>
            <a:endParaRPr lang="en-US" sz="1400" dirty="0"/>
          </a:p>
        </p:txBody>
      </p:sp>
      <p:pic>
        <p:nvPicPr>
          <p:cNvPr id="4" name="Image 0" descr="/home/claude/data/figures_es/plot_4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36192"/>
            <a:ext cx="667512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36192"/>
            <a:ext cx="4050792" cy="1828800"/>
          </a:xfrm>
          <a:prstGeom prst="roundRect">
            <a:avLst>
              <a:gd name="adj" fmla="val 3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81812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charges sobre bmi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18120" y="19933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50976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818120" y="2542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fumadores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fumadores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2852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veces más pronunciada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43800" y="3547872"/>
            <a:ext cx="4050792" cy="2249424"/>
          </a:xfrm>
          <a:prstGeom prst="roundRect">
            <a:avLst>
              <a:gd name="adj" fmla="val 243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7818120" y="3730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4041648"/>
            <a:ext cx="3520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lineal aditivo tiene una sola pendiente para bmi y un solo desplazamiento para smoker. No puede representar dos pendientes distintas.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2 crea el término bmi × smoker, que sí puede.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Separación train / validación /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teórica 1.1 — qué es y por qué es necesaria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700784"/>
            <a:ext cx="290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1.069 filas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0565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los parámetros del modelo. Es lo único que el modelo llega a ver durante el entrenamiento.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1481328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43018" y="1700784"/>
            <a:ext cx="290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3018" y="19568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folds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43018" y="2468880"/>
            <a:ext cx="290565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entre modelos: grado del polinomio y valor de lambda. Sale del propio conjunto de train.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43037" y="1481328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417357" y="1700784"/>
            <a:ext cx="290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7357" y="19568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 filas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7357" y="2468880"/>
            <a:ext cx="290565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el error sobre datos nuevos. Se utiliza una sola vez, al final de todo.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11002975" cy="2011680"/>
          </a:xfrm>
          <a:prstGeom prst="roundRect">
            <a:avLst>
              <a:gd name="adj" fmla="val 272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14400" y="4187952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hace falta un conjunto de test separado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535424"/>
            <a:ext cx="1036289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validación se usa para ELEGIR el modelo. Comparamos 16 configuraciones y nos quedamos con la mejor: tomar el mínimo de 16 estimaciones ruidosas sesga ese mínimo hacia abajo. Parte de por qué ganó es calidad real, y parte es que sus folds resultaron favorables.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error de validación ya no es una estimación insesgada. El conjunto de test nunca participó en ninguna de esas decisiones, y es la única estimación honesta del rendimiento sobre datos nuevos.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 — decisiones y justificación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318608" cy="2157984"/>
          </a:xfrm>
          <a:prstGeom prst="roundRect">
            <a:avLst>
              <a:gd name="adj" fmla="val 2542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682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426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categóricas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66544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y smoker → una columna 0/1.  region → one-hot con nivel de referencia.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4769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 natural entre regiones; se elimina un nivel para evitar colinealidad con el intercepto.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481328"/>
            <a:ext cx="5318608" cy="2157984"/>
          </a:xfrm>
          <a:prstGeom prst="roundRect">
            <a:avLst>
              <a:gd name="adj" fmla="val 2542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53048" y="1682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5968" y="1664208"/>
            <a:ext cx="426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3048" y="2066544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en las 7 columnas. Se elimina 1 fila duplicada exacta.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3048" y="2816352"/>
            <a:ext cx="4769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idéntica en train y en validación filtraría información entre particiones.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5318608" cy="2157984"/>
          </a:xfrm>
          <a:prstGeom prst="roundRect">
            <a:avLst>
              <a:gd name="adj" fmla="val 2542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6868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931920"/>
            <a:ext cx="426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atípicos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334256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1,5 × IQR: 139 en charges (10,4 %). Decisión: CONSERVARLOS.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084064"/>
            <a:ext cx="4769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97,8 % son fumadores, frente al 20,5 % del total: subpoblación real, no errores.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749040"/>
            <a:ext cx="5318608" cy="2157984"/>
          </a:xfrm>
          <a:prstGeom prst="roundRect">
            <a:avLst>
              <a:gd name="adj" fmla="val 2542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553048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5968" y="3931920"/>
            <a:ext cx="426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y escalado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3048" y="4334256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mantienen las 6 variables. Estandarización de age, bmi y children.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3048" y="5084064"/>
            <a:ext cx="4769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escalador se ajusta DENTRO de cada fold, nunca sobre el conjunto completo.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 con validación cruzada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2 — k-fold sobre el conjunto de train únicamente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5577840" cy="24323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validación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6.139,56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5.846,90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6.104,44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6.003,92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6.073,79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6.130,97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6.051,68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6.239,26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6.010,12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6.397,21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6.075,92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6.123,65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315968"/>
            <a:ext cx="5577840" cy="1627632"/>
          </a:xfrm>
          <a:prstGeom prst="roundRect">
            <a:avLst>
              <a:gd name="adj" fmla="val 3371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86968" y="45171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11.701,05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86968" y="508406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del baseline: predecir siempre la media del train.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reduce ese error casi a la mitad.</a:t>
            </a:r>
            <a:endParaRPr lang="en-US" sz="1250" dirty="0"/>
          </a:p>
        </p:txBody>
      </p:sp>
      <p:sp>
        <p:nvSpPr>
          <p:cNvPr id="4" name="Shape 5"/>
          <p:cNvSpPr/>
          <p:nvPr/>
        </p:nvSpPr>
        <p:spPr>
          <a:xfrm>
            <a:off x="6537960" y="1536192"/>
            <a:ext cx="5056632" cy="1417320"/>
          </a:xfrm>
          <a:prstGeom prst="roundRect">
            <a:avLst>
              <a:gd name="adj" fmla="val 387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839712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47,73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839712" y="2267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train y validación: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del 1 % del error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37960" y="3081528"/>
            <a:ext cx="5056632" cy="2862072"/>
          </a:xfrm>
          <a:prstGeom prst="roundRect">
            <a:avLst>
              <a:gd name="adj" fmla="val 19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839712" y="32735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39712" y="3621024"/>
            <a:ext cx="44805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señal real en las variables: el error cae de 11.701 a 6.124.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sobreajuste: 8 parámetros sobre 1.069 filas no pueden memorizar los datos.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SESGO ALTO, no varianza. El modelo es demasiado simple.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ahí el apartado 3: el objetivo del polinomio es reducir el sesgo.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polinómica: aparece el sobreajuste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Apartados 3.1 y 3.2 — mismos folds, misma partición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1002975" cy="1609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validación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6.075,92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6.123,65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4.748,62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DD8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4.931,59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4.514,11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5.169,48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655,37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3429000"/>
            <a:ext cx="5318608" cy="2514600"/>
          </a:xfrm>
          <a:prstGeom prst="roundRect">
            <a:avLst>
              <a:gd name="adj" fmla="val 2182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86968" y="3621024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grado 1 al 2:  el error cae un 20 %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6968" y="3986784"/>
            <a:ext cx="47333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expansión crea términos de interacción como bmi × smoker.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interacción es real: un BMI alto encarece mucho más a los fumadores. Un modelo aditivo no puede expresarlo.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3429000"/>
            <a:ext cx="5318608" cy="2514600"/>
          </a:xfrm>
          <a:prstGeom prst="roundRect">
            <a:avLst>
              <a:gd name="adj" fmla="val 21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6"/>
          <p:cNvSpPr/>
          <p:nvPr/>
        </p:nvSpPr>
        <p:spPr>
          <a:xfrm>
            <a:off x="6571336" y="3621024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grado 2 al 3:  el error empeora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71336" y="3986784"/>
            <a:ext cx="47333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train sigue bajando (4.514) pero el de validación sube (5.169), y la diferencia pasa de 183 a 655.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 de manual: 164 características ajustadas sobre unas 855 filas empiezan a memorizar ruido.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Regularización L1 (Lasso)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3.3 — el parámetro alpha de scikit-learn es la lambda del curso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685800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validación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4.748,64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4.930,84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4.750,64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4.924,44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173,81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4.797,06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DD8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4.905,32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5.271,72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5.296,59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4.525,67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5.090,97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565,30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4.702,38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4.918,71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216,33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206240"/>
            <a:ext cx="6858000" cy="1737360"/>
          </a:xfrm>
          <a:prstGeom prst="roundRect">
            <a:avLst>
              <a:gd name="adj" fmla="val 3158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86968" y="43891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Seleccionado:  grado 2, lambda = 100  ·  RMSE 4.905,32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6968" y="4754880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ventaja sobre OLS de grado 2 (4.931,59) es de solo 26 RMSE, con una desviación entre folds de unos 200: la diferencia no es significativa. Se elige por estabilidad y simplicidad, no por precisión.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99248" y="1554480"/>
            <a:ext cx="3895344" cy="1371600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973568" y="1719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44</a:t>
            </a:r>
            <a:endParaRPr lang="en-US" sz="3000" dirty="0"/>
          </a:p>
        </p:txBody>
      </p:sp>
      <p:sp>
        <p:nvSpPr>
          <p:cNvPr id="4" name="Text 7"/>
          <p:cNvSpPr/>
          <p:nvPr/>
        </p:nvSpPr>
        <p:spPr>
          <a:xfrm>
            <a:off x="7973568" y="2267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puestos a cero exacto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99248" y="3054096"/>
            <a:ext cx="3895344" cy="2889504"/>
          </a:xfrm>
          <a:prstGeom prst="roundRect">
            <a:avLst>
              <a:gd name="adj" fmla="val 189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973568" y="3246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observaciones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73568" y="3593592"/>
            <a:ext cx="33832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rescata el grado 3: de 5.169 baja a 4.919, casi al nivel del grado 2.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lambda = 1000 todo converge a ~5.300: la penalización domina a los datos. Poca varianza, mucho sesgo.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hace selección de características real, no solo encogimiento como L2.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todos los modelos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4 — RMSE de validación cruzada, 16 configuraciones evaluadas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572768"/>
          <a:ext cx="7635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72768"/>
            <a:ext cx="3044952" cy="1920240"/>
          </a:xfrm>
          <a:prstGeom prst="roundRect">
            <a:avLst>
              <a:gd name="adj" fmla="val 2857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82396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4.905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823960" y="230428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RMSE de validación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Lasso, grado 2, lambda = 100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3639312"/>
            <a:ext cx="3044952" cy="2139696"/>
          </a:xfrm>
          <a:prstGeom prst="roundRect">
            <a:avLst>
              <a:gd name="adj" fmla="val 25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823960" y="3822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3960" y="4133088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(predecir la media):  11.701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comparten partición y folds idénticos, así que las diferencias vienen del modelo.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sobre el conjunto de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vez, sobre 268 filas apartadas desde el apartado 2.1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517904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7190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4.630,51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26151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sobre test  ·  intervalo bootstrap 95 %:  3.820 – 5.403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626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2.878,83          R²  0,883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822192"/>
            <a:ext cx="5577840" cy="2121408"/>
          </a:xfrm>
          <a:prstGeom prst="roundRect">
            <a:avLst>
              <a:gd name="adj" fmla="val 2586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no se reparte por igual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4256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fumadores  (n = 208)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3.978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928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Fumadores  (n = 60)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0" y="4928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6.396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54315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RMSE medio único oculta esta diferencia del 60 %.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1517904"/>
            <a:ext cx="5056632" cy="4425696"/>
          </a:xfrm>
          <a:prstGeom prst="roundRect">
            <a:avLst>
              <a:gd name="adj" fmla="val 124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839712" y="17190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test dio 275 MENOS que la validación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39712" y="23774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cruzada:  4.905,32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8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4.630,51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9712" y="3017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significa que el modelo sea mejor de lo esperado.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9712" y="3419856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final se reentrenó sobre las 1.069 filas, no sobre las ~855 de cada fold.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filas son una muestra pequeña: el intervalo bootstrap [3.820 – 5.403] contiene 4.905.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cifras no se contradicen; la diferencia es ruido de muestreo.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 ·  TP1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829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2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modelos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5097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5 — las tres preguntas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11002975" cy="1417320"/>
          </a:xfrm>
          <a:prstGeom prst="roundRect">
            <a:avLst>
              <a:gd name="adj" fmla="val 3226"/>
            </a:avLst>
          </a:prstGeom>
          <a:solidFill>
            <a:srgbClr val="2E3D5C"/>
          </a:solidFill>
          <a:ln w="12700">
            <a:solidFill>
              <a:srgbClr val="2E3D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¿Qué modelo obtuvo menor error?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1883664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sobre características de grado 2 con lambda = 100:  RMSE de validación 4.905,32.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relevante que el ranking: del grado 1 al 2 el error cae un 20 % por las interacciones; del 2 al 3 empeora por sobreajuste.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035808"/>
            <a:ext cx="11002975" cy="1417320"/>
          </a:xfrm>
          <a:prstGeom prst="roundRect">
            <a:avLst>
              <a:gd name="adj" fmla="val 3226"/>
            </a:avLst>
          </a:prstGeom>
          <a:solidFill>
            <a:srgbClr val="2E3D5C"/>
          </a:solidFill>
          <a:ln w="12700">
            <a:solidFill>
              <a:srgbClr val="2E3D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¿Cuál implementarían en una aplicación real?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— pero no por precisión. Su ventaja sobre OLS de grado 2 es de 26 RMSE, con una desviación entre folds de ~200: no es significativa.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por estabilidad (diferencia train/val de 108 frente a 183), por simplicidad (24 de 44 coeficientes a cero) y porque lambda entre 1 y 100 da resultados equivalentes.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626864"/>
            <a:ext cx="11002975" cy="1417320"/>
          </a:xfrm>
          <a:prstGeom prst="roundRect">
            <a:avLst>
              <a:gd name="adj" fmla="val 3226"/>
            </a:avLst>
          </a:prstGeom>
          <a:solidFill>
            <a:srgbClr val="2E3D5C"/>
          </a:solidFill>
          <a:ln w="12700">
            <a:solidFill>
              <a:srgbClr val="2E3D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¿Qué RMSE prometerían sobre datos nuevos?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5065776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4.600, expresado como un rango de 3.800 a 5.400 — no como una cifra única.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449824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prometemos el 4.905 de validación: esa cifra se usó para ELEGIR entre 16 configuraciones y está sesgada a la baja. Condiciones: datos comparables, y el error es mayor en fumadores.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2179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 ¿Preguntas?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2763</Words>
  <Application>Microsoft Office PowerPoint</Application>
  <PresentationFormat>Widescreen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TP1: Regresion e introduccion a la evaluacion de modelos</dc:title>
  <dc:subject>PptxGenJS Presentation</dc:subject>
  <dc:creator>TP1 - Aprendizaje Automatico</dc:creator>
  <cp:lastModifiedBy>Domingo Gruhle</cp:lastModifiedBy>
  <cp:revision>2</cp:revision>
  <dcterms:created xsi:type="dcterms:W3CDTF">2026-08-25T14:32:11Z</dcterms:created>
  <dcterms:modified xsi:type="dcterms:W3CDTF">2026-08-25T15:01:28Z</dcterms:modified>
</cp:coreProperties>
</file>